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1B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QUỐC GIA TP.HCM  •  TRƯỜNG ĐẠI HỌC CÔNG NGHỆ THÔNG TIN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Mạng máy tính và Truyền thông  •  Khóa luận tốt nghiệp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PHÁT HIỆN RÒ RỈ KHÍ GAS THÔNG MINH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Tích hợp IoT · Dự báo LSTM · Học tăng cường PPO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324612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Gas Leak Detection System integrating IoT, LSTM Forecasting and PPO Reinforcement Learning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554480" y="411480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C3050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42793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A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thực hiện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Viết Dương — 22520300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Quách Minh Đông — 22520259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4114800"/>
            <a:ext cx="4206240" cy="1508760"/>
          </a:xfrm>
          <a:prstGeom prst="roundRect">
            <a:avLst>
              <a:gd name="adj" fmla="val 4848"/>
            </a:avLst>
          </a:prstGeom>
          <a:solidFill>
            <a:srgbClr val="1C3050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2793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A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Nguyễn Khánh Thuật
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Văn Thiên Luân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Ngành: Mạng máy tính và Truyền thông dữ liệu  •  TP. Hồ Chí Minh,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Đặt vấn đề &amp; Động lực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400800" cy="5029200"/>
          </a:xfrm>
          <a:prstGeom prst="roundRect">
            <a:avLst>
              <a:gd name="adj" fmla="val 1636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Rò rỉ khí gas là mối nguy nghiêm trọng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 cơ cháy nổ, ngạt khí trong hộ gia đình và doanh nghiệp nhỏ.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truyền thống chỉ CẢNH BÁO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ứng khi nồng độ đã cao và không tự can thiệp ngăn nguy hiểm.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dự báo SỚM và HÀNH ĐỘNG tự động — </a:t>
            </a:r>
            <a:pPr indent="0" marL="0">
              <a:spcAft>
                <a:spcPts val="1600"/>
              </a:spcAft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van / bật quạt, chứ không chỉ gửi thông báo.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178040" y="1234440"/>
            <a:ext cx="4526280" cy="5029200"/>
          </a:xfrm>
          <a:prstGeom prst="roundRect">
            <a:avLst>
              <a:gd name="adj" fmla="val 1818"/>
            </a:avLst>
          </a:prstGeom>
          <a:solidFill>
            <a:srgbClr val="14233A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CHỈ cảnh báo: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06640" y="20574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≈96%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7543800" y="3474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rò rỉ vẫn chạm ngưỡng nguy hiểm 1000 ppm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4526280"/>
            <a:ext cx="3840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Cảnh báo đơn thuần là KHÔNG ĐỦ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Mục tiêu &amp; Đóng góp chính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09344"/>
            <a:ext cx="694944" cy="694944"/>
          </a:xfrm>
          <a:prstGeom prst="ellipse">
            <a:avLst/>
          </a:prstGeom>
          <a:solidFill>
            <a:srgbClr val="1F6F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51790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Hệ thống IoT thời gian thực 4 tầng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645920" y="193852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→ MQTT/Kafka → Spark Streaming → Dashboard, vận hành trên phần cứng phổ thông.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889504"/>
            <a:ext cx="694944" cy="694944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279806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 hình LSTM dự báo nguy cơ 5 phút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45920" y="32186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cùng kiến trúc: huấn luyện trên mô phỏng và kiểm chứng trên dữ liệu cảm biến thực (Kaggle).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4169664"/>
            <a:ext cx="694944" cy="694944"/>
          </a:xfrm>
          <a:prstGeom prst="ellipse">
            <a:avLst/>
          </a:prstGeom>
          <a:solidFill>
            <a:srgbClr val="2F8F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407822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Bộ điều khiển RL (PPO) tự hành động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45920" y="44988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chính sách đóng van / bật quạt / cảnh báo từ hàm reward theo kết quả (outcome-based).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11201400" cy="1170432"/>
          </a:xfrm>
          <a:prstGeom prst="roundRect">
            <a:avLst>
              <a:gd name="adj" fmla="val 70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5449824"/>
            <a:ext cx="694944" cy="694944"/>
          </a:xfrm>
          <a:prstGeom prst="ellipse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45920" y="535838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công bằng 4 bộ điều khiển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45920" y="57790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THRESHOLD, FORECASTER, RULE, RL theo định nghĩa miss khách quan, đa seed.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hệ thống 4 tầng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063" y="1188720"/>
            <a:ext cx="7785569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→ Truyền thông (MQTT/Kafka) → Xử lý (Spark + LSTM + PPO) → Ứng dụng (Dashboard, Telegram, Grafana). Tầng Xử lý là nơi hai mô hình ML phối hợp trên cùng một luồng dữ liệu.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Phương pháp — LSTM Forecaster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lstm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926080" cy="49164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60520" y="1325880"/>
            <a:ext cx="7543800" cy="4846320"/>
          </a:xfrm>
          <a:prstGeom prst="roundRect">
            <a:avLst>
              <a:gd name="adj" fmla="val 1698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389120" y="1508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Dự báo nhị phân p₅ₘᵢₙ (xác suất khí chạm 1000 ppm trong 5 phút)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89120" y="2148840"/>
            <a:ext cx="7132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nhỏ gọn: Input(60×3) → LSTM(32) → Dropout(0,2) → Dense(16) → Dense(1, sigmoid); ~5.000 tham số, suy luận vài ms.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mô hình cùng kiến trúc:</a:t>
            </a:r>
            <a:endParaRPr lang="en-US" sz="1300" dirty="0"/>
          </a:p>
          <a:p>
            <a:pPr lvl="1" marL="3556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gas_forecaster.keras — huấn luyện trên mô phỏng, forecaster vận hành mặc định.</a:t>
            </a:r>
            <a:endParaRPr lang="en-US" sz="1300" dirty="0"/>
          </a:p>
          <a:p>
            <a:pPr lvl="1" marL="3556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gas_forecaster_kaggle.keras — huấn luyện trên dữ liệu thực Kaggle, kiểm chứng sim-to-real.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Dán nhãn theo kiểu forecasting + class weight để xử lý mất cân bằng lớp.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Phương pháp — RL (PPO): bài toán MDP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rl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86400" cy="35184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371600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1371600"/>
            <a:ext cx="118872" cy="1078992"/>
          </a:xfrm>
          <a:prstGeom prst="rect">
            <a:avLst/>
          </a:prstGeom>
          <a:solidFill>
            <a:srgbClr val="1F6F8B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Môi trường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29400" y="18470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GasLeakEnv bao bọc máy trạng thái vật lý 4 pha.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2578608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578608"/>
            <a:ext cx="118872" cy="1078992"/>
          </a:xfrm>
          <a:prstGeom prst="rect">
            <a:avLst/>
          </a:prstGeom>
          <a:solidFill>
            <a:srgbClr val="E8A25B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2688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Trạng thái (8 chiều)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29400" y="305409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gas, T, H, slope, p₅ₘᵢₙ, fan, valve, Δt — chuẩn hoá [0,1].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3785616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3785616"/>
            <a:ext cx="118872" cy="1078992"/>
          </a:xfrm>
          <a:prstGeom prst="rect">
            <a:avLst/>
          </a:prstGeom>
          <a:solidFill>
            <a:srgbClr val="2F8F5B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38953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Hành động (4 rời rạc)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29400" y="42611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NO_OP · ALERT · FAN_ON · CLOSE_VALVE.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4992624"/>
            <a:ext cx="5349240" cy="1078992"/>
          </a:xfrm>
          <a:prstGeom prst="roundRect">
            <a:avLst>
              <a:gd name="adj" fmla="val 762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4992624"/>
            <a:ext cx="118872" cy="10789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6629400" y="5102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 (outcome-based)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29400" y="54681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 vượt ngưỡng; +0,3 kiềm chế được rò rỉ; phạt can thiệp sai.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mạng PPO (Actor–Critic)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ppo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987" y="1188720"/>
            <a:ext cx="8399721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dùng chung Dense 64–64 (tanh) tách thành policy head (4 hành động, softmax) và value head (scalar). ~5.060 tham số, nhẹ tương đương LSTM. Huấn luyện 400.000 timesteps với 4 môi trường song song + VecNormalize.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Thiết lập thực nghiệm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184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 liệu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giờ mô phỏng (1 Hz, seed 42) cho LSTM &amp; benchmark; 405K mẫu cảm biến thực Kaggle để kiểm chứng LSTM.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14173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3952" y="16184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Kịch bản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73952" y="21945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KB-1 LSTM · KB-2 PPO · KB-3 benchmark 4 controller (3 seed) · KB-3b kịch bản slow/fast · KB-4 độ trễ.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1330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Chỉ số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miss_rate, mean_peak_gas, alarms/giờ (kết quả) và lead_time (phát hiện sớm).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99632" y="393192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3952" y="41330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Môi trường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73952" y="47091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CPU-only — chứng minh khả thi trên phần cứng phổ thông.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LSTM — dữ liệu mô phỏng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lstm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840480" cy="33395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50876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0" y="16184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90,5%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1206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150876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16184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301752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31272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55,2%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0" y="301752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0" y="31272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71,1%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4124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461772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100% (0 cảnh báo sai) — mô hình thận trọng; Recall trung bình do bỏ sót giai đoạn đầu LEAK_SLOW. Tầng RL bù lại bằng nồng độ tức thời + slope.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234440" y="365760"/>
            <a:ext cx="10287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LSTM — dữ liệu thực (Kaggle)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lstm_confusion_matrix_kag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840480" cy="33395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50876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20640" y="16184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96,4%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1206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150876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412480" y="161848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92,8%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301752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31272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40,1%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12064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0" y="3017520"/>
            <a:ext cx="3108960" cy="1325880"/>
          </a:xfrm>
          <a:prstGeom prst="roundRect">
            <a:avLst>
              <a:gd name="adj" fmla="val 620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12480" y="312724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80.822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41248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test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461772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93% trên cảm biến vật lý thực ⇒ tín hiệu “xu hướng tăng nồng độ” mà LSTM học được TỔNG QUÁT sang dữ liệu thực — bằng chứng sim-to-real first-order.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huấn luyện PPO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ppo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696" y="1234440"/>
            <a:ext cx="8076304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7150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trung bình hội tụ rõ ràng: từ ~−22.000 (khám phá ngẫu nhiên) lên ~−100. Loại bỏ “reward hacking” (+10 farm điểm) và chuẩn hoá bằng VecNormalize giúp đường cong diễn giải được.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— 4 bộ điều khiển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benchmark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448" y="1234440"/>
            <a:ext cx="8686800" cy="26728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80160" y="43434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4453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8016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280160" y="5440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miss_rate — thấp nhất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43434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4453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222 ppm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72000" y="5440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peak_gas — ≈7× thấp hơn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4343400"/>
            <a:ext cx="2926080" cy="1737360"/>
          </a:xfrm>
          <a:prstGeom prst="roundRect">
            <a:avLst>
              <a:gd name="adj" fmla="val 4737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0" y="4453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63840" y="4709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863840" y="5440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alarm/giờ — ít phiền nhất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theo kịch bản (slow / fast)</a:t>
            </a:r>
            <a:endParaRPr lang="en-US" sz="2500" dirty="0"/>
          </a:p>
        </p:txBody>
      </p:sp>
      <p:pic>
        <p:nvPicPr>
          <p:cNvPr id="4" name="Image 0" descr="/sessions/hopeful-sweet-turing/mnt/thesis-smart-home-gas-detection/thesis-latex/img/exp/scenarios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280160"/>
            <a:ext cx="9326880" cy="3264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4892040"/>
            <a:ext cx="10515600" cy="1508760"/>
          </a:xfrm>
          <a:prstGeom prst="roundRect">
            <a:avLst>
              <a:gd name="adj" fmla="val 5455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507492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LSTM cho lead time gấp 4–9 lần ngưỡng tĩnh.   </a:t>
            </a:r>
            <a:pPr indent="0" marL="0">
              <a:buNone/>
            </a:pPr>
            <a:r>
              <a:rPr lang="en-US" sz="135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RULE và RL giữ được khí dưới ngưỡng ở cả hai loại rò rỉ; THRESHOLD/FORECASTER chạm trần. RL vượt trội trên benchmark hỗn hợp nhiều leak liên tiếp.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Đánh giá vận hành — độ trễ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inference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2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 ms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(p99 135 ms)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inference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 ms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48056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 nhanh, không nghẽn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24231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6F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≈320 ms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138160" y="3383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dưới 1 giây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Đáp ứng yêu cầu thời gian thực mềm của giám sát khí gas; tài nguyên ~5% CPU và 2 GB RAM. Kiến trúc Kafka + Spark hỗ trợ mở rộng ngang cho nhiều thiết bị.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luận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08760" y="1508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đơn thuần là không đủ (~96% miss) — phải có hành động tự động.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633472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258775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dự báo sớm và tổng quát sang dữ liệu cảm biến thực (Recall 93% trên Kaggle).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" y="3712464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366674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là bộ điều khiển tốt nhất trên cả 3 chỉ số: miss 5%, peak 222 ppm, alarm 1,1/giờ — vượt cả luật tay tinh chỉnh thủ công.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4791456"/>
            <a:ext cx="548640" cy="548640"/>
          </a:xfrm>
          <a:prstGeom prst="ellipse">
            <a:avLst/>
          </a:prstGeom>
          <a:solidFill>
            <a:srgbClr val="E8A2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4745736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outcome-based loại bỏ reward hacking; LSTM và RL bổ sung nhau trong kiến trúc phân tầng.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" cy="566928"/>
          </a:xfrm>
          <a:prstGeom prst="roundRect">
            <a:avLst>
              <a:gd name="adj" fmla="val 12903"/>
            </a:avLst>
          </a:prstGeom>
          <a:solidFill>
            <a:srgbClr val="1F6F8B"/>
          </a:solidFill>
          <a:ln>
            <a:solidFill>
              <a:srgbClr val="1F6F8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36192" y="365760"/>
            <a:ext cx="9985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 chế &amp; Hướng phát triển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532120" cy="4754880"/>
          </a:xfrm>
          <a:prstGeom prst="roundRect">
            <a:avLst>
              <a:gd name="adj" fmla="val 17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Hạn chế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83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huấn luyện trên mô phỏng (RL cần môi trường tương tác).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đánh giá còn hẹp (3 seed × 4 giờ).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so sánh kiến trúc mới hơn (Transformer/TFT, SAC).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thực cần chứng nhận an toàn &amp; bảo mật điều khiển van.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532120" cy="4754880"/>
          </a:xfrm>
          <a:prstGeom prst="roundRect">
            <a:avLst>
              <a:gd name="adj" fmla="val 1731"/>
            </a:avLst>
          </a:prstGeom>
          <a:solidFill>
            <a:srgbClr val="F2F5F8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Hướng phát triển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4983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trên ESP32 thực để đo sim-to-real cho tầng RL.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10+ seed, 8–12 giờ/seed để siết khoảng tin cậy.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 phỏng giàu vật lý hơn (đa phòng, thông gió chéo).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inference LSTM (ONNX/TFLite) và tinh chỉnh reward (grid search / IRL).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Xin cảm ơn quý Thầy/Cô đã lắng nghe!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sẵn sàng lắng nghe câu hỏi và góp ý của Hội đồng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Viết Dương (22520300)  •  Quách Minh Đông (22520259)  •  GVHD: ThS. Nguyễn Khánh Thuật, ThS. Văn Thiên Luân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Bảo vệ khóa luận - Hệ thống phát hiện rò rỉ khí gas thông minh</dc:title>
  <dc:subject>PptxGenJS Presentation</dc:subject>
  <dc:creator>Lê Viết Dương; Quách Minh Đông</dc:creator>
  <cp:lastModifiedBy>Lê Viết Dương; Quách Minh Đông</cp:lastModifiedBy>
  <cp:revision>1</cp:revision>
  <dcterms:created xsi:type="dcterms:W3CDTF">2026-06-14T11:51:38Z</dcterms:created>
  <dcterms:modified xsi:type="dcterms:W3CDTF">2026-06-14T11:51:38Z</dcterms:modified>
</cp:coreProperties>
</file>